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Support de Présentation Complet (40 Diapositives) - Cinés Délices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Titre Professionnel CDA – Cinés Délices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Soutenance pour le Titre Professionnel de Concepteur Développeur d'Applications</a:t>
            </a:r>
          </a:p>
          <a:p>
            <a:pPr lvl="0" indent="0" marL="0">
              <a:buNone/>
            </a:pPr>
            <a:r>
              <a:rPr b="1"/>
              <a:t>Candidat :</a:t>
            </a:r>
            <a:r>
              <a:rPr/>
              <a:t> Nathalie Leduc</a:t>
            </a:r>
          </a:p>
          <a:p>
            <a:pPr lvl="0" indent="0" marL="0">
              <a:buNone/>
            </a:pPr>
            <a:r>
              <a:rPr b="1"/>
              <a:t>Session :</a:t>
            </a:r>
            <a:r>
              <a:rPr/>
              <a:t> Juin 2026</a:t>
            </a:r>
          </a:p>
          <a:p>
            <a:pPr lvl="0" indent="0" marL="0">
              <a:buNone/>
            </a:pPr>
            <a:r>
              <a:rPr b="1"/>
              <a:t>Centre de Formation :</a:t>
            </a:r>
            <a:r>
              <a:rPr/>
              <a:t> École O'Clock (Promotion Francfort)</a:t>
            </a:r>
          </a:p>
          <a:p>
            <a:pPr lvl="0" indent="0" marL="0">
              <a:buNone/>
            </a:pPr>
            <a:r>
              <a:rPr b="1"/>
              <a:t>Projet Technique Central :</a:t>
            </a:r>
            <a:r>
              <a:rPr/>
              <a:t> Cinés Délices — Plateforme d'échange de recettes de films</a:t>
            </a:r>
          </a:p>
          <a:p>
            <a:pPr lvl="0" indent="0" marL="0">
              <a:buNone/>
            </a:pPr>
            <a:r>
              <a:rPr/>
              <a:t>Soutenance TP CDA — Nathalie Leduc — Projet Cinés Délices</a:t>
            </a:r>
          </a:p>
          <a:p>
            <a:pPr lvl="0" indent="0" marL="0">
              <a:buNone/>
            </a:pPr>
            <a:r>
              <a:rPr/>
              <a:t>1 / 40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Le Concept &amp; La Genèse de Cinés Délices</a:t>
            </a:r>
          </a:p>
          <a:p>
            <a:pPr lvl="0"/>
            <a:r>
              <a:rPr/>
              <a:t>Projet d'Apothéose – Formation O'Clock</a:t>
            </a:r>
          </a:p>
          <a:p>
            <a:pPr lvl="0"/>
            <a:r>
              <a:rPr/>
              <a:t>Lier l'œuvre cinématographique et la recette (ex: la Ratatouille de Rémy)</a:t>
            </a:r>
          </a:p>
          <a:p>
            <a:pPr lvl="0"/>
            <a:r>
              <a:rPr/>
              <a:t>Équipe de 5 développeurs – Rôle : Scrum Master &amp; Développeuse Fullstack</a:t>
            </a:r>
          </a:p>
          <a:p>
            <a:pPr lvl="0"/>
            <a:r>
              <a:rPr/>
              <a:t>Objectif : Application moderne, accessible, performante et sécurisée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 Ingénierie &amp; Qualité</a:t>
            </a:r>
          </a:p>
          <a:p>
            <a:pPr lvl="0" indent="0" marL="0">
              <a:buNone/>
            </a:pPr>
            <a:r>
              <a:rPr b="1"/>
              <a:t>validation logicielle :</a:t>
            </a:r>
            <a:r>
              <a:rPr/>
              <a:t> Concept</a:t>
            </a:r>
            <a:br/>
            <a:r>
              <a:rPr b="1"/>
              <a:t>Cible d'excellence :</a:t>
            </a:r>
            <a:r>
              <a:rPr/>
              <a:t> Couverture de code optimale</a:t>
            </a:r>
            <a:br/>
            <a:r>
              <a:rPr b="1"/>
              <a:t>Automatisation :</a:t>
            </a:r>
            <a:r>
              <a:rPr/>
              <a:t> Intégration Continue (CI)</a:t>
            </a:r>
          </a:p>
          <a:p>
            <a:pPr lvl="0" indent="0" marL="0">
              <a:buNone/>
            </a:pPr>
            <a:r>
              <a:rPr/>
              <a:t>Soutenance TP CDA — Nathalie Leduc — Projet Cinés Délices</a:t>
            </a:r>
          </a:p>
          <a:p>
            <a:pPr lvl="0" indent="0" marL="0">
              <a:buNone/>
            </a:pPr>
            <a:r>
              <a:rPr/>
              <a:t>2 / 40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Partie I : Gestion de Projet et Cadrage des Besoins</a:t>
            </a:r>
          </a:p>
          <a:p>
            <a:pPr lvl="0" indent="0" marL="0">
              <a:buNone/>
            </a:pPr>
            <a:r>
              <a:rPr/>
              <a:t>Section 1 : Méthodologie et Organisation</a:t>
            </a:r>
            <a:br/>
            <a:r>
              <a:rPr/>
              <a:t>  Passage en revue des compétences métiers associées </a:t>
            </a:r>
          </a:p>
          <a:p>
            <a:pPr lvl="0" indent="0" marL="0">
              <a:buNone/>
            </a:pPr>
            <a:r>
              <a:rPr/>
              <a:t>Soutenance TP CDA — Nathalie Leduc — Projet Cinés Délices</a:t>
            </a:r>
          </a:p>
          <a:p>
            <a:pPr lvl="0" indent="0" marL="0">
              <a:buNone/>
            </a:pPr>
            <a:r>
              <a:rPr/>
              <a:t>3 / 40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Objectifs Fonctionnels &amp; Périmètre (MVP)</a:t>
            </a:r>
          </a:p>
          <a:p>
            <a:pPr lvl="0"/>
            <a:r>
              <a:rPr/>
              <a:t>Méthode MoSCoW pour la gestion du périmètre</a:t>
            </a:r>
          </a:p>
          <a:p>
            <a:pPr lvl="0"/>
            <a:r>
              <a:rPr/>
              <a:t>Must Have : Catalogue public, filtres, recherche dynamique, espace membre</a:t>
            </a:r>
          </a:p>
          <a:p>
            <a:pPr lvl="0"/>
            <a:r>
              <a:rPr/>
              <a:t>Should/Could Have : Commentaires, système de notation, favoris</a:t>
            </a:r>
          </a:p>
          <a:p>
            <a:pPr lvl="0"/>
            <a:r>
              <a:rPr/>
              <a:t>Won't Have (v2) : Messagerie instantanée, suggestions IA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 Cadrage &amp; Suivi Projet</a:t>
            </a:r>
          </a:p>
          <a:p>
            <a:pPr lvl="0" indent="0" marL="0">
              <a:buNone/>
            </a:pPr>
            <a:r>
              <a:rPr b="1"/>
              <a:t>Méthode d'ingénierie :</a:t>
            </a:r>
            <a:r>
              <a:rPr/>
              <a:t> Agile Scrum</a:t>
            </a:r>
            <a:br/>
            <a:r>
              <a:rPr b="1"/>
              <a:t>Suivi :</a:t>
            </a:r>
            <a:r>
              <a:rPr/>
              <a:t> Kanban GitHub Enterprise</a:t>
            </a:r>
            <a:br/>
            <a:r>
              <a:rPr b="1"/>
              <a:t>Indicateur clé :</a:t>
            </a:r>
            <a:r>
              <a:rPr/>
              <a:t> Story Points livrés par Sprint</a:t>
            </a:r>
          </a:p>
          <a:p>
            <a:pPr lvl="0" indent="0" marL="0">
              <a:buNone/>
            </a:pPr>
            <a:r>
              <a:rPr/>
              <a:t>Soutenance TP CDA — Nathalie Leduc — Projet Cinés Délices</a:t>
            </a:r>
          </a:p>
          <a:p>
            <a:pPr lvl="0" indent="0" marL="0">
              <a:buNone/>
            </a:pPr>
            <a:r>
              <a:rPr/>
              <a:t>4 / 40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Méthodologie Agile &amp; Organisation des Sprints</a:t>
            </a:r>
          </a:p>
          <a:p>
            <a:pPr lvl="0"/>
            <a:r>
              <a:rPr/>
              <a:t>Framework Scrum adapté</a:t>
            </a:r>
          </a:p>
          <a:p>
            <a:pPr lvl="0"/>
            <a:r>
              <a:rPr/>
              <a:t>4 Sprints d'une semaine sur un mois</a:t>
            </a:r>
          </a:p>
          <a:p>
            <a:pPr lvl="0"/>
            <a:r>
              <a:rPr/>
              <a:t>Cérémonies : Daily Standup, Sprint Planning, Sprint Review, Retrospective</a:t>
            </a:r>
          </a:p>
          <a:p>
            <a:pPr lvl="0"/>
            <a:r>
              <a:rPr/>
              <a:t>Rôle de Scrum Master : Facilitation, levée des points de blocage, revues de code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 Cadrage &amp; Suivi Projet</a:t>
            </a:r>
          </a:p>
          <a:p>
            <a:pPr lvl="0" indent="0" marL="0">
              <a:buNone/>
            </a:pPr>
            <a:r>
              <a:rPr b="1"/>
              <a:t>Méthode d'ingénierie :</a:t>
            </a:r>
            <a:r>
              <a:rPr/>
              <a:t> Agile Scrum</a:t>
            </a:r>
            <a:br/>
            <a:r>
              <a:rPr b="1"/>
              <a:t>Suivi :</a:t>
            </a:r>
            <a:r>
              <a:rPr/>
              <a:t> Kanban GitHub Enterprise</a:t>
            </a:r>
            <a:br/>
            <a:r>
              <a:rPr b="1"/>
              <a:t>Indicateur clé :</a:t>
            </a:r>
            <a:r>
              <a:rPr/>
              <a:t> Story Points livrés par Sprint</a:t>
            </a:r>
          </a:p>
          <a:p>
            <a:pPr lvl="0" indent="0" marL="0">
              <a:buNone/>
            </a:pPr>
            <a:r>
              <a:rPr/>
              <a:t>Soutenance TP CDA — Nathalie Leduc — Projet Cinés Délices</a:t>
            </a:r>
          </a:p>
          <a:p>
            <a:pPr lvl="0" indent="0" marL="0">
              <a:buNone/>
            </a:pPr>
            <a:r>
              <a:rPr/>
              <a:t>5 / 40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Pilotage Visuel : Du Kanban GitHub à la Réalité</a:t>
            </a:r>
          </a:p>
          <a:p>
            <a:pPr lvl="0"/>
            <a:r>
              <a:rPr/>
              <a:t>Utilisation des GitHub Projects pour le suivi des User Stories</a:t>
            </a:r>
          </a:p>
          <a:p>
            <a:pPr lvl="0"/>
            <a:r>
              <a:rPr/>
              <a:t>Colonnes standards : To Do, In Progress, Review, Done</a:t>
            </a:r>
          </a:p>
          <a:p>
            <a:pPr lvl="0"/>
            <a:r>
              <a:rPr/>
              <a:t>Pivot du Sprint 2 : Restructuration du Kanban pour clarifier les responsabilités</a:t>
            </a:r>
          </a:p>
          <a:p>
            <a:pPr lvl="0"/>
            <a:r>
              <a:rPr/>
              <a:t>Traçabilité : Association systématique Issue &lt;-&gt; Pull Request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 Cadrage &amp; Suivi Projet</a:t>
            </a:r>
          </a:p>
          <a:p>
            <a:pPr lvl="0" indent="0" marL="0">
              <a:buNone/>
            </a:pPr>
            <a:r>
              <a:rPr b="1"/>
              <a:t>Méthode d'ingénierie :</a:t>
            </a:r>
            <a:r>
              <a:rPr/>
              <a:t> Agile Scrum</a:t>
            </a:r>
            <a:br/>
            <a:r>
              <a:rPr b="1"/>
              <a:t>Suivi :</a:t>
            </a:r>
            <a:r>
              <a:rPr/>
              <a:t> Kanban GitHub Enterprise</a:t>
            </a:r>
            <a:br/>
            <a:r>
              <a:rPr b="1"/>
              <a:t>Indicateur clé :</a:t>
            </a:r>
            <a:r>
              <a:rPr/>
              <a:t> Story Points livrés par Sprint</a:t>
            </a:r>
          </a:p>
          <a:p>
            <a:pPr lvl="0" indent="0" marL="0">
              <a:buNone/>
            </a:pPr>
            <a:r>
              <a:rPr/>
              <a:t>Soutenance TP CDA — Nathalie Leduc — Projet Cinés Délices</a:t>
            </a:r>
          </a:p>
          <a:p>
            <a:pPr lvl="0" indent="0" marL="0">
              <a:buNone/>
            </a:pPr>
            <a:r>
              <a:rPr/>
              <a:t>6 / 40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Analyse et Matrice des Risques Projet</a:t>
            </a:r>
          </a:p>
          <a:p>
            <a:pPr lvl="0"/>
            <a:r>
              <a:rPr/>
              <a:t>Risques humains (indisponibilité, baisse de régime)</a:t>
            </a:r>
          </a:p>
          <a:p>
            <a:pPr lvl="0"/>
            <a:r>
              <a:rPr/>
              <a:t>Risques techniques (conflits de fusion Git massifs, indisponibilité d'API tierce)</a:t>
            </a:r>
          </a:p>
          <a:p>
            <a:pPr lvl="0"/>
            <a:r>
              <a:rPr/>
              <a:t>Risques de sécurité (failles OWASP Top 10, fuite de données)</a:t>
            </a:r>
          </a:p>
          <a:p>
            <a:pPr lvl="0"/>
            <a:r>
              <a:rPr/>
              <a:t>Stratégie de mitigation : Intégration continue, sauvegardes, revues de pairs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 Cadrage &amp; Suivi Projet</a:t>
            </a:r>
          </a:p>
          <a:p>
            <a:pPr lvl="0" indent="0" marL="0">
              <a:buNone/>
            </a:pPr>
            <a:r>
              <a:rPr b="1"/>
              <a:t>Méthode d'ingénierie :</a:t>
            </a:r>
            <a:r>
              <a:rPr/>
              <a:t> Agile Scrum</a:t>
            </a:r>
            <a:br/>
            <a:r>
              <a:rPr b="1"/>
              <a:t>Suivi :</a:t>
            </a:r>
            <a:r>
              <a:rPr/>
              <a:t> Kanban GitHub Enterprise</a:t>
            </a:r>
            <a:br/>
            <a:r>
              <a:rPr b="1"/>
              <a:t>Indicateur clé :</a:t>
            </a:r>
            <a:r>
              <a:rPr/>
              <a:t> Story Points livrés par Sprint</a:t>
            </a:r>
          </a:p>
          <a:p>
            <a:pPr lvl="0" indent="0" marL="0">
              <a:buNone/>
            </a:pPr>
            <a:r>
              <a:rPr/>
              <a:t>Soutenance TP CDA — Nathalie Leduc — Projet Cinés Délices</a:t>
            </a:r>
          </a:p>
          <a:p>
            <a:pPr lvl="0" indent="0" marL="0">
              <a:buNone/>
            </a:pPr>
            <a:r>
              <a:rPr/>
              <a:t>7 / 40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Cibles Utilisateurs &amp; Modélisation des Personas</a:t>
            </a:r>
          </a:p>
          <a:p>
            <a:pPr lvl="0"/>
            <a:r>
              <a:rPr/>
              <a:t>Le Cinéphile Gourmand : Recherche d'immersion visuelle</a:t>
            </a:r>
          </a:p>
          <a:p>
            <a:pPr lvl="0"/>
            <a:r>
              <a:rPr/>
              <a:t>Le Cuisinier Amateur : Besoin de fiches techniques claires et précises</a:t>
            </a:r>
          </a:p>
          <a:p>
            <a:pPr lvl="0"/>
            <a:r>
              <a:rPr/>
              <a:t>Le Contributeur Passionné : Souhaite partager simplement et rapidement</a:t>
            </a:r>
          </a:p>
          <a:p>
            <a:pPr lvl="0"/>
            <a:r>
              <a:rPr/>
              <a:t>Impact direct sur l'UX : Clarté de la navigation et accessibilité mobile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 Cadrage &amp; Suivi Projet</a:t>
            </a:r>
          </a:p>
          <a:p>
            <a:pPr lvl="0" indent="0" marL="0">
              <a:buNone/>
            </a:pPr>
            <a:r>
              <a:rPr b="1"/>
              <a:t>Méthode d'ingénierie :</a:t>
            </a:r>
            <a:r>
              <a:rPr/>
              <a:t> Agile Scrum</a:t>
            </a:r>
            <a:br/>
            <a:r>
              <a:rPr b="1"/>
              <a:t>Suivi :</a:t>
            </a:r>
            <a:r>
              <a:rPr/>
              <a:t> Kanban GitHub Enterprise</a:t>
            </a:r>
            <a:br/>
            <a:r>
              <a:rPr b="1"/>
              <a:t>Indicateur clé :</a:t>
            </a:r>
            <a:r>
              <a:rPr/>
              <a:t> Story Points livrés par Sprint</a:t>
            </a:r>
          </a:p>
          <a:p>
            <a:pPr lvl="0" indent="0" marL="0">
              <a:buNone/>
            </a:pPr>
            <a:r>
              <a:rPr/>
              <a:t>Soutenance TP CDA — Nathalie Leduc — Projet Cinés Délices</a:t>
            </a:r>
          </a:p>
          <a:p>
            <a:pPr lvl="0" indent="0" marL="0">
              <a:buNone/>
            </a:pPr>
            <a:r>
              <a:rPr/>
              <a:t>8 / 40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Partie II : Spécifications Fonctionnelles et Modélisation</a:t>
            </a:r>
          </a:p>
          <a:p>
            <a:pPr lvl="0" indent="0" marL="0">
              <a:buNone/>
            </a:pPr>
            <a:r>
              <a:rPr/>
              <a:t>Section 2 : Architecture de l'information et Conception</a:t>
            </a:r>
            <a:br/>
            <a:r>
              <a:rPr/>
              <a:t>  Passage en revue des compétences métiers associées </a:t>
            </a:r>
          </a:p>
          <a:p>
            <a:pPr lvl="0" indent="0" marL="0">
              <a:buNone/>
            </a:pPr>
            <a:r>
              <a:rPr/>
              <a:t>Soutenance TP CDA — Nathalie Leduc — Projet Cinés Délices</a:t>
            </a:r>
          </a:p>
          <a:p>
            <a:pPr lvl="0" indent="0" marL="0">
              <a:buNone/>
            </a:pPr>
            <a:r>
              <a:rPr/>
              <a:t>9 / 40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Architecture de l'Information : Le Sitemap</a:t>
            </a:r>
          </a:p>
          <a:p>
            <a:pPr lvl="0"/>
            <a:r>
              <a:rPr/>
              <a:t>Découpage des accès en trois zones distinctes</a:t>
            </a:r>
          </a:p>
          <a:p>
            <a:pPr lvl="0"/>
            <a:r>
              <a:rPr/>
              <a:t>Zone Publique : Accueil, fiches recettes, fiches médias (films/séries)</a:t>
            </a:r>
          </a:p>
          <a:p>
            <a:pPr lvl="0"/>
            <a:r>
              <a:rPr/>
              <a:t>Zone Membre Connecté : Tableau de bord, création/édition, gestion du profil</a:t>
            </a:r>
          </a:p>
          <a:p>
            <a:pPr lvl="0"/>
            <a:r>
              <a:rPr/>
              <a:t>Zone Administration : Modération des publications, gestion des référentiels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 Architecture de l'Information</a:t>
            </a:r>
          </a:p>
          <a:p>
            <a:pPr lvl="0" indent="0" marL="0">
              <a:buNone/>
            </a:pPr>
            <a:r>
              <a:rPr b="1"/>
              <a:t>Conception :</a:t>
            </a:r>
            <a:r>
              <a:rPr/>
              <a:t> Spécifications Merise (MCD)</a:t>
            </a:r>
            <a:br/>
            <a:r>
              <a:rPr b="1"/>
              <a:t>Approche d'Interface :</a:t>
            </a:r>
            <a:r>
              <a:rPr/>
              <a:t> Sémantique HTML5 &amp; Accessibilité</a:t>
            </a:r>
            <a:br/>
            <a:r>
              <a:rPr b="1"/>
              <a:t>Sécurisation native :</a:t>
            </a:r>
            <a:r>
              <a:rPr/>
              <a:t> Privacy by Design &amp; RGPD</a:t>
            </a:r>
          </a:p>
          <a:p>
            <a:pPr lvl="0" indent="0" marL="0">
              <a:buNone/>
            </a:pPr>
            <a:r>
              <a:rPr/>
              <a:t>Soutenance TP CDA — Nathalie Leduc — Projet Cinés Délices</a:t>
            </a:r>
          </a:p>
          <a:p>
            <a:pPr lvl="0" indent="0" marL="0">
              <a:buNone/>
            </a:pPr>
            <a:r>
              <a:rPr/>
              <a:t>10 / 40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Conception UI/UX : Démarche Mobile-First</a:t>
            </a:r>
          </a:p>
          <a:p>
            <a:pPr lvl="0"/>
            <a:r>
              <a:rPr/>
              <a:t>Plus de 50% du trafic attendu sur smartphone en cuisine</a:t>
            </a:r>
          </a:p>
          <a:p>
            <a:pPr lvl="0"/>
            <a:r>
              <a:rPr/>
              <a:t>Étape 1 : Wireframes basse-fidélité axés sur la structure du contenu</a:t>
            </a:r>
          </a:p>
          <a:p>
            <a:pPr lvl="0"/>
            <a:r>
              <a:rPr/>
              <a:t>Étape 2 : Maquettes haute-fidélité (Figma) intégrant la charte graphique</a:t>
            </a:r>
          </a:p>
          <a:p>
            <a:pPr lvl="0"/>
            <a:r>
              <a:rPr/>
              <a:t>Mon apport : Homogénéisation des composants réutilisables pour l'équipe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 Architecture de l'Information</a:t>
            </a:r>
          </a:p>
          <a:p>
            <a:pPr lvl="0" indent="0" marL="0">
              <a:buNone/>
            </a:pPr>
            <a:r>
              <a:rPr b="1"/>
              <a:t>Conception :</a:t>
            </a:r>
            <a:r>
              <a:rPr/>
              <a:t> Spécifications Merise (MCD)</a:t>
            </a:r>
            <a:br/>
            <a:r>
              <a:rPr b="1"/>
              <a:t>Approche d'Interface :</a:t>
            </a:r>
            <a:r>
              <a:rPr/>
              <a:t> Sémantique HTML5 &amp; Accessibilité</a:t>
            </a:r>
            <a:br/>
            <a:r>
              <a:rPr b="1"/>
              <a:t>Sécurisation native :</a:t>
            </a:r>
            <a:r>
              <a:rPr/>
              <a:t> Privacy by Design &amp; RGPD</a:t>
            </a:r>
          </a:p>
          <a:p>
            <a:pPr lvl="0" indent="0" marL="0">
              <a:buNone/>
            </a:pPr>
            <a:r>
              <a:rPr/>
              <a:t>Soutenance TP CDA — Nathalie Leduc — Projet Cinés Délices</a:t>
            </a:r>
          </a:p>
          <a:p>
            <a:pPr lvl="0" indent="0" marL="0">
              <a:buNone/>
            </a:pPr>
            <a:r>
              <a:rPr/>
              <a:t>11 / 40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Modèle Conceptuel de Données (MCD Merise)</a:t>
            </a:r>
          </a:p>
          <a:p>
            <a:pPr lvl="0"/>
            <a:r>
              <a:rPr/>
              <a:t>Modélisation Merise : Entités, Associations, Cardinalités</a:t>
            </a:r>
          </a:p>
          <a:p>
            <a:pPr lvl="0"/>
            <a:r>
              <a:rPr/>
              <a:t>6 entités clés : Utilisateur, Recette, Ingrédient, Média, Catégorie, Étape</a:t>
            </a:r>
          </a:p>
          <a:p>
            <a:pPr lvl="0"/>
            <a:r>
              <a:rPr/>
              <a:t>Relation plusieurs-à-plusieurs (N..N) : Recette &lt;-&gt; Ingrédient avec attributs (quantité)</a:t>
            </a:r>
          </a:p>
          <a:p>
            <a:pPr lvl="0"/>
            <a:r>
              <a:rPr/>
              <a:t>Sécurité dès la conception : Choix d'identifiants uniques UUID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 Architecture de l'Information</a:t>
            </a:r>
          </a:p>
          <a:p>
            <a:pPr lvl="0" indent="0" marL="0">
              <a:buNone/>
            </a:pPr>
            <a:r>
              <a:rPr b="1"/>
              <a:t>Conception :</a:t>
            </a:r>
            <a:r>
              <a:rPr/>
              <a:t> Spécifications Merise (MCD)</a:t>
            </a:r>
            <a:br/>
            <a:r>
              <a:rPr b="1"/>
              <a:t>Approche d'Interface :</a:t>
            </a:r>
            <a:r>
              <a:rPr/>
              <a:t> Sémantique HTML5 &amp; Accessibilité</a:t>
            </a:r>
            <a:br/>
            <a:r>
              <a:rPr b="1"/>
              <a:t>Sécurisation native :</a:t>
            </a:r>
            <a:r>
              <a:rPr/>
              <a:t> Privacy by Design &amp; RGPD</a:t>
            </a:r>
          </a:p>
          <a:p>
            <a:pPr lvl="0" indent="0" marL="0">
              <a:buNone/>
            </a:pPr>
            <a:r>
              <a:rPr/>
              <a:t>Soutenance TP CDA — Nathalie Leduc — Projet Cinés Délices</a:t>
            </a:r>
          </a:p>
          <a:p>
            <a:pPr lvl="0" indent="0" marL="0">
              <a:buNone/>
            </a:pPr>
            <a:r>
              <a:rPr/>
              <a:t>12 / 40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Gestion du RGPD &amp; Cycle de vie de la Donnée</a:t>
            </a:r>
          </a:p>
          <a:p>
            <a:pPr lvl="0"/>
            <a:r>
              <a:rPr/>
              <a:t>Conformité avec la réglementation européenne (RGPD)</a:t>
            </a:r>
          </a:p>
          <a:p>
            <a:pPr lvl="0"/>
            <a:r>
              <a:rPr/>
              <a:t>Droit à l'oubli : Stratégie de suppression des comptes</a:t>
            </a:r>
          </a:p>
          <a:p>
            <a:pPr lvl="0"/>
            <a:r>
              <a:rPr/>
              <a:t>Contrainte SQL : Règle 'SetNull' sur les clés étrangères des recettes</a:t>
            </a:r>
          </a:p>
          <a:p>
            <a:pPr lvl="0"/>
            <a:r>
              <a:rPr/>
              <a:t>Anonymisation des données : Préservation des recettes communautaires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 Architecture de l'Information</a:t>
            </a:r>
          </a:p>
          <a:p>
            <a:pPr lvl="0" indent="0" marL="0">
              <a:buNone/>
            </a:pPr>
            <a:r>
              <a:rPr b="1"/>
              <a:t>Conception :</a:t>
            </a:r>
            <a:r>
              <a:rPr/>
              <a:t> Spécifications Merise (MCD)</a:t>
            </a:r>
            <a:br/>
            <a:r>
              <a:rPr b="1"/>
              <a:t>Approche d'Interface :</a:t>
            </a:r>
            <a:r>
              <a:rPr/>
              <a:t> Sémantique HTML5 &amp; Accessibilité</a:t>
            </a:r>
            <a:br/>
            <a:r>
              <a:rPr b="1"/>
              <a:t>Sécurisation native :</a:t>
            </a:r>
            <a:r>
              <a:rPr/>
              <a:t> Privacy by Design &amp; RGPD</a:t>
            </a:r>
          </a:p>
          <a:p>
            <a:pPr lvl="0" indent="0" marL="0">
              <a:buNone/>
            </a:pPr>
            <a:r>
              <a:rPr/>
              <a:t>Soutenance TP CDA — Nathalie Leduc — Projet Cinés Délices</a:t>
            </a:r>
          </a:p>
          <a:p>
            <a:pPr lvl="0" indent="0" marL="0">
              <a:buNone/>
            </a:pPr>
            <a:r>
              <a:rPr/>
              <a:t>13 / 40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Partie III : Spécifications Techniques et Architecture</a:t>
            </a:r>
          </a:p>
          <a:p>
            <a:pPr lvl="0" indent="0" marL="0">
              <a:buNone/>
            </a:pPr>
            <a:r>
              <a:rPr/>
              <a:t>Section 3 : Choix technologiques et Écosystème</a:t>
            </a:r>
            <a:br/>
            <a:r>
              <a:rPr/>
              <a:t>  Passage en revue des compétences métiers associées </a:t>
            </a:r>
          </a:p>
          <a:p>
            <a:pPr lvl="0" indent="0" marL="0">
              <a:buNone/>
            </a:pPr>
            <a:r>
              <a:rPr/>
              <a:t>Soutenance TP CDA — Nathalie Leduc — Projet Cinés Délices</a:t>
            </a:r>
          </a:p>
          <a:p>
            <a:pPr lvl="0" indent="0" marL="0">
              <a:buNone/>
            </a:pPr>
            <a:r>
              <a:rPr/>
              <a:t>14 / 40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La Stack Technique : Justifications</a:t>
            </a:r>
          </a:p>
          <a:p>
            <a:pPr lvl="0"/>
            <a:r>
              <a:rPr/>
              <a:t>Frontend : React 19, Vite 6, SCSS avec méthodologie BEM</a:t>
            </a:r>
          </a:p>
          <a:p>
            <a:pPr lvl="0"/>
            <a:r>
              <a:rPr/>
              <a:t>Backend : Node.js, Express 5, Prisma ORM v7</a:t>
            </a:r>
          </a:p>
          <a:p>
            <a:pPr lvl="0"/>
            <a:r>
              <a:rPr/>
              <a:t>Base de données : PostgreSQL 18 distribué</a:t>
            </a:r>
          </a:p>
          <a:p>
            <a:pPr lvl="0"/>
            <a:r>
              <a:rPr/>
              <a:t>Écosystème unifié en JavaScript / TypeScript : Cohérence de l'équipe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 Cartographie Technique Backend</a:t>
            </a:r>
          </a:p>
          <a:p>
            <a:pPr lvl="0" indent="0" marL="0">
              <a:buNone/>
            </a:pPr>
            <a:r>
              <a:rPr/>
              <a:t>[Client React 19]</a:t>
            </a:r>
            <a:br/>
            <a:r>
              <a:rPr/>
              <a:t>       │ (Requêtes HTTPS + Bearer Token JWT)</a:t>
            </a:r>
            <a:br/>
            <a:r>
              <a:rPr/>
              <a:t>       ▼</a:t>
            </a:r>
            <a:br/>
            <a:r>
              <a:rPr/>
              <a:t>[API Node.js / Express 5 + Helmet]</a:t>
            </a:r>
            <a:br/>
            <a:r>
              <a:rPr/>
              <a:t>       │ (Requêtes paramétrées Prisma 7)</a:t>
            </a:r>
            <a:br/>
            <a:r>
              <a:rPr/>
              <a:t>       ▼</a:t>
            </a:r>
            <a:br/>
            <a:r>
              <a:rPr/>
              <a:t>[Base PostgreSQL 18 Relational]</a:t>
            </a:r>
          </a:p>
          <a:p>
            <a:pPr lvl="0" indent="0" marL="0">
              <a:buNone/>
            </a:pPr>
            <a:r>
              <a:rPr/>
              <a:t>Soutenance TP CDA — Nathalie Leduc — Projet Cinés Délices</a:t>
            </a:r>
          </a:p>
          <a:p>
            <a:pPr lvl="0" indent="0" marL="0">
              <a:buNone/>
            </a:pPr>
            <a:r>
              <a:rPr/>
              <a:t>15 / 40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Architecture Découplée : API REST &amp; Single Page Application</a:t>
            </a:r>
          </a:p>
          <a:p>
            <a:pPr lvl="0"/>
            <a:r>
              <a:rPr/>
              <a:t>Séparation stricte des responsabilités (Separation of Concerns)</a:t>
            </a:r>
          </a:p>
          <a:p>
            <a:pPr lvl="0"/>
            <a:r>
              <a:rPr/>
              <a:t>Client React autonome communiquant via des requêtes HTTP asynchrones</a:t>
            </a:r>
          </a:p>
          <a:p>
            <a:pPr lvl="0"/>
            <a:r>
              <a:rPr/>
              <a:t>API REST sans état (Stateless), échange de payloads au format JSON</a:t>
            </a:r>
          </a:p>
          <a:p>
            <a:pPr lvl="0"/>
            <a:r>
              <a:rPr/>
              <a:t>Avantage : Prêt pour le déploiement d'une future application mobile native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 Cartographie Technique Backend</a:t>
            </a:r>
          </a:p>
          <a:p>
            <a:pPr lvl="0" indent="0" marL="0">
              <a:buNone/>
            </a:pPr>
            <a:r>
              <a:rPr/>
              <a:t>[Client React 19]</a:t>
            </a:r>
            <a:br/>
            <a:r>
              <a:rPr/>
              <a:t>       │ (Requêtes HTTPS + Bearer Token JWT)</a:t>
            </a:r>
            <a:br/>
            <a:r>
              <a:rPr/>
              <a:t>       ▼</a:t>
            </a:r>
            <a:br/>
            <a:r>
              <a:rPr/>
              <a:t>[API Node.js / Express 5 + Helmet]</a:t>
            </a:r>
            <a:br/>
            <a:r>
              <a:rPr/>
              <a:t>       │ (Requêtes paramétrées Prisma 7)</a:t>
            </a:r>
            <a:br/>
            <a:r>
              <a:rPr/>
              <a:t>       ▼</a:t>
            </a:r>
            <a:br/>
            <a:r>
              <a:rPr/>
              <a:t>[Base PostgreSQL 18 Relational]</a:t>
            </a:r>
          </a:p>
          <a:p>
            <a:pPr lvl="0" indent="0" marL="0">
              <a:buNone/>
            </a:pPr>
            <a:r>
              <a:rPr/>
              <a:t>Soutenance TP CDA — Nathalie Leduc — Projet Cinés Délices</a:t>
            </a:r>
          </a:p>
          <a:p>
            <a:pPr lvl="0" indent="0" marL="0">
              <a:buNone/>
            </a:pPr>
            <a:r>
              <a:rPr/>
              <a:t>16 / 40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Intégration d'API Tierce : Le Proxy TMDB</a:t>
            </a:r>
          </a:p>
          <a:p>
            <a:pPr lvl="0"/>
            <a:r>
              <a:rPr/>
              <a:t>Connexion à The Movie Database (TMDB) pour l'autocomplétion des médias</a:t>
            </a:r>
          </a:p>
          <a:p>
            <a:pPr lvl="0"/>
            <a:r>
              <a:rPr/>
              <a:t>Problématique : Risque d'exposition de la clé d'API privée côté client</a:t>
            </a:r>
          </a:p>
          <a:p>
            <a:pPr lvl="0"/>
            <a:r>
              <a:rPr/>
              <a:t>Solution : Implémentation d'un service Proxy sur notre propre serveur API</a:t>
            </a:r>
          </a:p>
          <a:p>
            <a:pPr lvl="0"/>
            <a:r>
              <a:rPr/>
              <a:t>Bénéfices : Sécurisation de la clé, mise en cache et contrôle des quotas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 Cartographie Technique Backend</a:t>
            </a:r>
          </a:p>
          <a:p>
            <a:pPr lvl="0" indent="0" marL="0">
              <a:buNone/>
            </a:pPr>
            <a:r>
              <a:rPr/>
              <a:t>[Client React 19]</a:t>
            </a:r>
            <a:br/>
            <a:r>
              <a:rPr/>
              <a:t>       │ (Requêtes HTTPS + Bearer Token JWT)</a:t>
            </a:r>
            <a:br/>
            <a:r>
              <a:rPr/>
              <a:t>       ▼</a:t>
            </a:r>
            <a:br/>
            <a:r>
              <a:rPr/>
              <a:t>[API Node.js / Express 5 + Helmet]</a:t>
            </a:r>
            <a:br/>
            <a:r>
              <a:rPr/>
              <a:t>       │ (Requêtes paramétrées Prisma 7)</a:t>
            </a:r>
            <a:br/>
            <a:r>
              <a:rPr/>
              <a:t>       ▼</a:t>
            </a:r>
            <a:br/>
            <a:r>
              <a:rPr/>
              <a:t>[Base PostgreSQL 18 Relational]</a:t>
            </a:r>
          </a:p>
          <a:p>
            <a:pPr lvl="0" indent="0" marL="0">
              <a:buNone/>
            </a:pPr>
            <a:r>
              <a:rPr/>
              <a:t>Soutenance TP CDA — Nathalie Leduc — Projet Cinés Délices</a:t>
            </a:r>
          </a:p>
          <a:p>
            <a:pPr lvl="0" indent="0" marL="0">
              <a:buNone/>
            </a:pPr>
            <a:r>
              <a:rPr/>
              <a:t>17 / 40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Stratégie de Sécurité : Authentification par JWT</a:t>
            </a:r>
          </a:p>
          <a:p>
            <a:pPr lvl="0"/>
            <a:r>
              <a:rPr/>
              <a:t>Hachage des mots de passe en base de données via l'algorithme Argon2id</a:t>
            </a:r>
          </a:p>
          <a:p>
            <a:pPr lvl="0"/>
            <a:r>
              <a:rPr/>
              <a:t>Génération de JSON Web Tokens (JWT) signés avec un algorithme robuste</a:t>
            </a:r>
          </a:p>
          <a:p>
            <a:pPr lvl="0"/>
            <a:r>
              <a:rPr/>
              <a:t>Transmission sécurisée via le mécanisme de Header Authorization Bearer</a:t>
            </a:r>
          </a:p>
          <a:p>
            <a:pPr lvl="0"/>
            <a:r>
              <a:rPr/>
              <a:t>Stratégie de tokens à durée de vie courte pour minimiser les risques de vol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 Cartographie Technique Backend</a:t>
            </a:r>
          </a:p>
          <a:p>
            <a:pPr lvl="0" indent="0" marL="0">
              <a:buNone/>
            </a:pPr>
            <a:r>
              <a:rPr/>
              <a:t>[Client React 19]</a:t>
            </a:r>
            <a:br/>
            <a:r>
              <a:rPr/>
              <a:t>       │ (Requêtes HTTPS + Bearer Token JWT)</a:t>
            </a:r>
            <a:br/>
            <a:r>
              <a:rPr/>
              <a:t>       ▼</a:t>
            </a:r>
            <a:br/>
            <a:r>
              <a:rPr/>
              <a:t>[API Node.js / Express 5 + Helmet]</a:t>
            </a:r>
            <a:br/>
            <a:r>
              <a:rPr/>
              <a:t>       │ (Requêtes paramétrées Prisma 7)</a:t>
            </a:r>
            <a:br/>
            <a:r>
              <a:rPr/>
              <a:t>       ▼</a:t>
            </a:r>
            <a:br/>
            <a:r>
              <a:rPr/>
              <a:t>[Base PostgreSQL 18 Relational]</a:t>
            </a:r>
          </a:p>
          <a:p>
            <a:pPr lvl="0" indent="0" marL="0">
              <a:buNone/>
            </a:pPr>
            <a:r>
              <a:rPr/>
              <a:t>Soutenance TP CDA — Nathalie Leduc — Projet Cinés Délices</a:t>
            </a:r>
          </a:p>
          <a:p>
            <a:pPr lvl="0" indent="0" marL="0">
              <a:buNone/>
            </a:pPr>
            <a:r>
              <a:rPr/>
              <a:t>18 / 40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Sécurisation de l'API contre les Menaces Courantes</a:t>
            </a:r>
          </a:p>
          <a:p>
            <a:pPr lvl="0"/>
            <a:r>
              <a:rPr/>
              <a:t>Utilisation du middleware Helmet pour configurer les en-têtes HTTP de sécurité</a:t>
            </a:r>
          </a:p>
          <a:p>
            <a:pPr lvl="0"/>
            <a:r>
              <a:rPr/>
              <a:t>Restriction stricte des politiques CORS (Cross-Origin Resource Sharing)</a:t>
            </a:r>
          </a:p>
          <a:p>
            <a:pPr lvl="0"/>
            <a:r>
              <a:rPr/>
              <a:t>Protection contre les attaques de déni de service par Rate-Limiting</a:t>
            </a:r>
          </a:p>
          <a:p>
            <a:pPr lvl="0"/>
            <a:r>
              <a:rPr/>
              <a:t>Injections SQL rendues impossibles par les requêtes paramétrées automatiques de Prisma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 Cartographie Technique Backend</a:t>
            </a:r>
          </a:p>
          <a:p>
            <a:pPr lvl="0" indent="0" marL="0">
              <a:buNone/>
            </a:pPr>
            <a:r>
              <a:rPr/>
              <a:t>[Client React 19]</a:t>
            </a:r>
            <a:br/>
            <a:r>
              <a:rPr/>
              <a:t>       │ (Requêtes HTTPS + Bearer Token JWT)</a:t>
            </a:r>
            <a:br/>
            <a:r>
              <a:rPr/>
              <a:t>       ▼</a:t>
            </a:r>
            <a:br/>
            <a:r>
              <a:rPr/>
              <a:t>[API Node.js / Express 5 + Helmet]</a:t>
            </a:r>
            <a:br/>
            <a:r>
              <a:rPr/>
              <a:t>       │ (Requêtes paramétrées Prisma 7)</a:t>
            </a:r>
            <a:br/>
            <a:r>
              <a:rPr/>
              <a:t>       ▼</a:t>
            </a:r>
            <a:br/>
            <a:r>
              <a:rPr/>
              <a:t>[Base PostgreSQL 18 Relational]</a:t>
            </a:r>
          </a:p>
          <a:p>
            <a:pPr lvl="0" indent="0" marL="0">
              <a:buNone/>
            </a:pPr>
            <a:r>
              <a:rPr/>
              <a:t>Soutenance TP CDA — Nathalie Leduc — Projet Cinés Délices</a:t>
            </a:r>
          </a:p>
          <a:p>
            <a:pPr lvl="0" indent="0" marL="0">
              <a:buNone/>
            </a:pPr>
            <a:r>
              <a:rPr/>
              <a:t>19 / 40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Partie IV : Focus Réalisation – Le Pipeline Création de Recette</a:t>
            </a:r>
          </a:p>
          <a:p>
            <a:pPr lvl="0" indent="0" marL="0">
              <a:buNone/>
            </a:pPr>
            <a:r>
              <a:rPr/>
              <a:t>Section 4 : Analyse détaillée d'une fonctionnalité transverse</a:t>
            </a:r>
            <a:br/>
            <a:r>
              <a:rPr/>
              <a:t>  Passage en revue des compétences métiers associées </a:t>
            </a:r>
          </a:p>
          <a:p>
            <a:pPr lvl="0" indent="0" marL="0">
              <a:buNone/>
            </a:pPr>
            <a:r>
              <a:rPr/>
              <a:t>Soutenance TP CDA — Nathalie Leduc — Projet Cinés Délices</a:t>
            </a:r>
          </a:p>
          <a:p>
            <a:pPr lvl="0" indent="0" marL="0">
              <a:buNone/>
            </a:pPr>
            <a:r>
              <a:rPr/>
              <a:t>20 / 40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Étape 1 : Saisie Dynamique &amp; Normalisation Temporelle (CP2)</a:t>
            </a:r>
          </a:p>
          <a:p>
            <a:pPr lvl="0" indent="0" marL="0">
              <a:buNone/>
            </a:pPr>
            <a:r>
              <a:rPr/>
              <a:t>Focus</a:t>
            </a:r>
          </a:p>
          <a:p>
            <a:pPr lvl="0"/>
            <a:r>
              <a:rPr/>
              <a:t>Interface de saisie réactive et tolérante aux erreurs</a:t>
            </a:r>
          </a:p>
          <a:p>
            <a:pPr lvl="0"/>
            <a:r>
              <a:rPr/>
              <a:t>L'utilisateur peut saisir des formats libres : '1h30', '90 min', '01:30'</a:t>
            </a:r>
          </a:p>
          <a:p>
            <a:pPr lvl="0"/>
            <a:r>
              <a:rPr/>
              <a:t>Algorithme JavaScript de parsing via Expression Régulière (Regex)</a:t>
            </a:r>
          </a:p>
          <a:p>
            <a:pPr lvl="0"/>
            <a:r>
              <a:rPr/>
              <a:t>Normalisation instantanée en un entier unique représentant les minutes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Schéma : Normalisation de l'input</a:t>
            </a:r>
          </a:p>
          <a:p>
            <a:pPr lvl="0" indent="0" marL="0">
              <a:buNone/>
            </a:pPr>
            <a:r>
              <a:rPr b="1"/>
              <a:t>Saisie utilisateur libre :</a:t>
            </a:r>
            <a:r>
              <a:rPr/>
              <a:t> "1h 30m" | "90" | "01:30"</a:t>
            </a:r>
          </a:p>
          <a:p>
            <a:pPr lvl="0" indent="0" marL="0">
              <a:buNone/>
            </a:pPr>
            <a:r>
              <a:rPr/>
              <a:t> [ Regex / Parsing JS ]</a:t>
            </a:r>
          </a:p>
          <a:p>
            <a:pPr lvl="0" indent="0" marL="0">
              <a:buNone/>
            </a:pPr>
            <a:r>
              <a:rPr/>
              <a:t>Payload JSON final -&gt; duration: 90 (INT)</a:t>
            </a:r>
          </a:p>
          <a:p>
            <a:pPr lvl="0" indent="0" marL="0">
              <a:buNone/>
            </a:pPr>
            <a:r>
              <a:rPr/>
              <a:t>Soutenance TP CDA — Nathalie Leduc — Projet Cinés Délices</a:t>
            </a:r>
          </a:p>
          <a:p>
            <a:pPr lvl="0" indent="0" marL="0">
              <a:buNone/>
            </a:pPr>
            <a:r>
              <a:rPr/>
              <a:t>21 / 40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Étape 2 : Pré-validation Structurelle côté Client (CP2)</a:t>
            </a:r>
          </a:p>
          <a:p>
            <a:pPr lvl="0" indent="0" marL="0">
              <a:buNone/>
            </a:pPr>
            <a:r>
              <a:rPr/>
              <a:t>Focus</a:t>
            </a:r>
          </a:p>
          <a:p>
            <a:pPr lvl="0"/>
            <a:r>
              <a:rPr/>
              <a:t>Utilisation de la bibliothèque Zod pour la validation de schéma</a:t>
            </a:r>
          </a:p>
          <a:p>
            <a:pPr lvl="0"/>
            <a:r>
              <a:rPr/>
              <a:t>Vérification immédiate de la complétude du formulaire avant envoi réseau</a:t>
            </a:r>
          </a:p>
          <a:p>
            <a:pPr lvl="0"/>
            <a:r>
              <a:rPr/>
              <a:t>Contrôle de la longueur du titre et de la présence des ingrédients</a:t>
            </a:r>
          </a:p>
          <a:p>
            <a:pPr lvl="0"/>
            <a:r>
              <a:rPr/>
              <a:t>Bénéfices : Expérience utilisateur instantanée et réduction de la charge serveur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Validation structurelle Zod Client</a:t>
            </a:r>
          </a:p>
          <a:p>
            <a:pPr lvl="0" indent="0">
              <a:buNone/>
            </a:pPr>
            <a:r>
              <a:rPr>
                <a:latin typeface="Courier"/>
              </a:rPr>
              <a:t>const recipeSchema = z.object({
  title: z.string().min(3).max(100),
  duration: z.number().positive(),
  ingredients: z.array(z.string()).min(1)
});</a:t>
            </a:r>
          </a:p>
          <a:p>
            <a:pPr lvl="0" indent="0" marL="0">
              <a:buNone/>
            </a:pPr>
            <a:r>
              <a:rPr/>
              <a:t>Soutenance TP CDA — Nathalie Leduc — Projet Cinés Délices</a:t>
            </a:r>
          </a:p>
          <a:p>
            <a:pPr lvl="0" indent="0" marL="0">
              <a:buNone/>
            </a:pPr>
            <a:r>
              <a:rPr/>
              <a:t>22 / 40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Étape 3 : Payload Réseau Hybride Multipart / FormData (CP3)</a:t>
            </a:r>
          </a:p>
          <a:p>
            <a:pPr lvl="0" indent="0" marL="0">
              <a:buNone/>
            </a:pPr>
            <a:r>
              <a:rPr/>
              <a:t>Focus</a:t>
            </a:r>
          </a:p>
          <a:p>
            <a:pPr lvl="0"/>
            <a:r>
              <a:rPr/>
              <a:t>Problématique : Envoi simultané de texte structuré et d'un fichier binaire</a:t>
            </a:r>
          </a:p>
          <a:p>
            <a:pPr lvl="0"/>
            <a:r>
              <a:rPr/>
              <a:t>Le format classique 'application/json' est inadapté aux fichiers bruts</a:t>
            </a:r>
          </a:p>
          <a:p>
            <a:pPr lvl="0"/>
            <a:r>
              <a:rPr/>
              <a:t>Solution : Instanciation d'un objet JavaScript natif FormData</a:t>
            </a:r>
          </a:p>
          <a:p>
            <a:pPr lvl="0"/>
            <a:r>
              <a:rPr/>
              <a:t>Sérialisation des objets complexes (ingrédients, étapes) en chaînes JSON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Structure Encapsulation Multipart</a:t>
            </a:r>
          </a:p>
          <a:p>
            <a:pPr lvl="0" indent="0" marL="0">
              <a:buNone/>
            </a:pPr>
            <a:r>
              <a:rPr b="1"/>
              <a:t>Content-Type:</a:t>
            </a:r>
            <a:r>
              <a:rPr/>
              <a:t> multipart/form-data;</a:t>
            </a:r>
            <a:br/>
            <a:r>
              <a:rPr/>
              <a:t>---BoundaryXYZ</a:t>
            </a:r>
            <a:br/>
            <a:r>
              <a:rPr/>
              <a:t>Content-Disposition: form-data; name="title"</a:t>
            </a:r>
            <a:br/>
            <a:r>
              <a:rPr/>
              <a:t>Ratatouille de Rémy</a:t>
            </a:r>
            <a:br/>
            <a:r>
              <a:rPr/>
              <a:t>---BoundaryXYZ</a:t>
            </a:r>
            <a:br/>
            <a:r>
              <a:rPr/>
              <a:t>Content-Disposition: form-data; name="recipeImage"; filename="cooking.jpg"</a:t>
            </a:r>
            <a:br/>
            <a:r>
              <a:rPr/>
              <a:t>[Données Binaires Image WebP]</a:t>
            </a:r>
          </a:p>
          <a:p>
            <a:pPr lvl="0" indent="0" marL="0">
              <a:buNone/>
            </a:pPr>
            <a:r>
              <a:rPr/>
              <a:t>Soutenance TP CDA — Nathalie Leduc — Projet Cinés Délices</a:t>
            </a:r>
          </a:p>
          <a:p>
            <a:pPr lvl="0" indent="0" marL="0">
              <a:buNone/>
            </a:pPr>
            <a:r>
              <a:rPr/>
              <a:t>23 / 40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Étape 4 : Interception &amp; Traitement d'Éco-conception via Sharp (CP3)</a:t>
            </a:r>
          </a:p>
          <a:p>
            <a:pPr lvl="0" indent="0" marL="0">
              <a:buNone/>
            </a:pPr>
            <a:r>
              <a:rPr/>
              <a:t>Focus</a:t>
            </a:r>
          </a:p>
          <a:p>
            <a:pPr lvl="0"/>
            <a:r>
              <a:rPr/>
              <a:t>Interception du fichier en mémoire vive (RAM) par le middleware Multer</a:t>
            </a:r>
          </a:p>
          <a:p>
            <a:pPr lvl="0"/>
            <a:r>
              <a:rPr/>
              <a:t>Utilisation du moteur de traitement graphique Sharp directement sur le Buffer</a:t>
            </a:r>
          </a:p>
          <a:p>
            <a:pPr lvl="0"/>
            <a:r>
              <a:rPr/>
              <a:t>Redimensionnement automatique des images à une largeur max de 1200px</a:t>
            </a:r>
          </a:p>
          <a:p>
            <a:pPr lvl="0"/>
            <a:r>
              <a:rPr/>
              <a:t>Transcodage et compression systématique au format moderne WebP (qualité 80)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Pipeline de Traitement Graphique Sharp</a:t>
            </a:r>
          </a:p>
          <a:p>
            <a:pPr lvl="0" indent="0" marL="0">
              <a:buNone/>
            </a:pPr>
            <a:r>
              <a:rPr b="1"/>
              <a:t>Upload :</a:t>
            </a:r>
            <a:r>
              <a:rPr/>
              <a:t> Multer (RAM Buffer)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Sharp :</a:t>
            </a:r>
            <a:r>
              <a:rPr/>
              <a:t> Resize (max-width: 1200px)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Sharp :</a:t>
            </a:r>
            <a:r>
              <a:rPr/>
              <a:t> Compression &amp; Transcodage WebP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Stockage :</a:t>
            </a:r>
            <a:r>
              <a:rPr/>
              <a:t> Volume persistant securisé</a:t>
            </a:r>
          </a:p>
          <a:p>
            <a:pPr lvl="0" indent="0" marL="0">
              <a:buNone/>
            </a:pPr>
            <a:r>
              <a:rPr/>
              <a:t>Soutenance TP CDA — Nathalie Leduc — Projet Cinés Délices</a:t>
            </a:r>
          </a:p>
          <a:p>
            <a:pPr lvl="0" indent="0" marL="0">
              <a:buNone/>
            </a:pPr>
            <a:r>
              <a:rPr/>
              <a:t>24 / 40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Étape 5 : Validation API et Sécurité Zero-Trust (CP3)</a:t>
            </a:r>
          </a:p>
          <a:p>
            <a:pPr lvl="0" indent="0" marL="0">
              <a:buNone/>
            </a:pPr>
            <a:r>
              <a:rPr/>
              <a:t>Focus</a:t>
            </a:r>
          </a:p>
          <a:p>
            <a:pPr lvl="0"/>
            <a:r>
              <a:rPr/>
              <a:t>Règle absolue de sécurité : 'Ne jamais faire confiance aux données du client'</a:t>
            </a:r>
          </a:p>
          <a:p>
            <a:pPr lvl="0"/>
            <a:r>
              <a:rPr/>
              <a:t>Désérialisation des données textuelles reçues par l'API</a:t>
            </a:r>
          </a:p>
          <a:p>
            <a:pPr lvl="0"/>
            <a:r>
              <a:rPr/>
              <a:t>Seconde validation stricte par un schéma Zod côté serveur</a:t>
            </a:r>
          </a:p>
          <a:p>
            <a:pPr lvl="0"/>
            <a:r>
              <a:rPr/>
              <a:t>Sanitisation des chaînes de caractères contre les failles d'injection XSS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Architecture de Sécurité Zero-Trust</a:t>
            </a:r>
          </a:p>
          <a:p>
            <a:pPr lvl="0" indent="0" marL="0">
              <a:buNone/>
            </a:pPr>
            <a:r>
              <a:rPr b="1"/>
              <a:t>Si échec Zod / XSS :</a:t>
            </a:r>
            <a:br/>
            <a:r>
              <a:rPr/>
              <a:t>Interruption, HTTP 400 Bad Request, aucun appel SQL.</a:t>
            </a:r>
          </a:p>
          <a:p>
            <a:pPr lvl="0" indent="0" marL="0">
              <a:buNone/>
            </a:pPr>
            <a:r>
              <a:rPr b="1"/>
              <a:t>Si validation réussie :</a:t>
            </a:r>
            <a:br/>
            <a:r>
              <a:rPr/>
              <a:t>Données sanitisées transmises à la couche Prisma.</a:t>
            </a:r>
          </a:p>
          <a:p>
            <a:pPr lvl="0" indent="0" marL="0">
              <a:buNone/>
            </a:pPr>
            <a:r>
              <a:rPr/>
              <a:t>Soutenance TP CDA — Nathalie Leduc — Projet Cinés Délices</a:t>
            </a:r>
          </a:p>
          <a:p>
            <a:pPr lvl="0" indent="0" marL="0">
              <a:buNone/>
            </a:pPr>
            <a:r>
              <a:rPr/>
              <a:t>25 / 40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Étape 6 : Écriture Transactionnelle Isolée avec Prisma 7 (CP8)</a:t>
            </a:r>
          </a:p>
          <a:p>
            <a:pPr lvl="0" indent="0" marL="0">
              <a:buNone/>
            </a:pPr>
            <a:r>
              <a:rPr/>
              <a:t>Focus</a:t>
            </a:r>
          </a:p>
          <a:p>
            <a:pPr lvl="0"/>
            <a:r>
              <a:rPr/>
              <a:t>Insertion requérant des écritures simultanées dans plusieurs tables SQL</a:t>
            </a:r>
          </a:p>
          <a:p>
            <a:pPr lvl="0"/>
            <a:r>
              <a:rPr/>
              <a:t>Utilisation du mécanisme '$transaction' de Prisma pour garantir l'atomicité</a:t>
            </a:r>
          </a:p>
          <a:p>
            <a:pPr lvl="0"/>
            <a:r>
              <a:rPr/>
              <a:t>Principe du 'Tout ou Rien' : Protection absolue contre les données orphelines</a:t>
            </a:r>
          </a:p>
          <a:p>
            <a:pPr lvl="0"/>
            <a:r>
              <a:rPr/>
              <a:t>Validation de la compétence CP8 concernant la persistance sécurisée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Atomicité ACID via $transaction SQL</a:t>
            </a:r>
          </a:p>
          <a:p>
            <a:pPr lvl="0" indent="0">
              <a:buNone/>
            </a:pPr>
            <a:r>
              <a:rPr>
                <a:latin typeface="Courier"/>
              </a:rPr>
              <a:t>await prisma.$transaction(async (tx) =&gt; {
  const r = await tx.recipe.create({...});
  await tx.ingredient.createMany({...});
});
// En cas de panne -&gt; Rollback automatique</a:t>
            </a:r>
          </a:p>
          <a:p>
            <a:pPr lvl="0" indent="0" marL="0">
              <a:buNone/>
            </a:pPr>
            <a:r>
              <a:rPr/>
              <a:t>Soutenance TP CDA — Nathalie Leduc — Projet Cinés Délices</a:t>
            </a:r>
          </a:p>
          <a:p>
            <a:pPr lvl="0" indent="0" marL="0">
              <a:buNone/>
            </a:pPr>
            <a:r>
              <a:rPr/>
              <a:t>26 / 40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Étape 7 : Initialisation du Statut &amp; Alerte de Modération (CP3)</a:t>
            </a:r>
          </a:p>
          <a:p>
            <a:pPr lvl="0" indent="0" marL="0">
              <a:buNone/>
            </a:pPr>
            <a:r>
              <a:rPr/>
              <a:t>Focus</a:t>
            </a:r>
          </a:p>
          <a:p>
            <a:pPr lvl="0"/>
            <a:r>
              <a:rPr/>
              <a:t>La recette est enregistrée avec le statut par défaut 'PENDING'</a:t>
            </a:r>
          </a:p>
          <a:p>
            <a:pPr lvl="0"/>
            <a:r>
              <a:rPr/>
              <a:t>Sécurité éditoriale : Aucun contenu n'est publié sans validation humaine</a:t>
            </a:r>
          </a:p>
          <a:p>
            <a:pPr lvl="0"/>
            <a:r>
              <a:rPr/>
              <a:t>Création synchrone d'une notification interne pour le tableau de bord Admin</a:t>
            </a:r>
          </a:p>
          <a:p>
            <a:pPr lvl="0"/>
            <a:r>
              <a:rPr/>
              <a:t>Renvoi final au client du code d'état de succès HTTP 201 Created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Cycle de Vie et Modération Métier</a:t>
            </a:r>
          </a:p>
          <a:p>
            <a:pPr lvl="0" indent="0" marL="0">
              <a:buNone/>
            </a:pPr>
            <a:r>
              <a:rPr/>
              <a:t>DRAFT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PENDING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PUBLISHED</a:t>
            </a:r>
          </a:p>
          <a:p>
            <a:pPr lvl="0" indent="0" marL="0">
              <a:buNone/>
            </a:pPr>
            <a:r>
              <a:rPr/>
              <a:t>Soutenance TP CDA — Nathalie Leduc — Projet Cinés Délices</a:t>
            </a:r>
          </a:p>
          <a:p>
            <a:pPr lvl="0" indent="0" marL="0">
              <a:buNone/>
            </a:pPr>
            <a:r>
              <a:rPr/>
              <a:t>27 / 40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Algorithme Avancé : La Recherche par Distance de Levenshtein</a:t>
            </a:r>
          </a:p>
          <a:p>
            <a:pPr lvl="0" indent="0" marL="0">
              <a:buNone/>
            </a:pPr>
            <a:r>
              <a:rPr/>
              <a:t>Focus</a:t>
            </a:r>
          </a:p>
          <a:p>
            <a:pPr lvl="0"/>
            <a:r>
              <a:rPr/>
              <a:t>Amélioration de l'expérience utilisateur lors de la recherche d'ingrédients</a:t>
            </a:r>
          </a:p>
          <a:p>
            <a:pPr lvl="0"/>
            <a:r>
              <a:rPr/>
              <a:t>Problématique : Tolérance aux fautes de frappe de l'utilisateur (ex: 'Citon' -&gt; 'Citron')</a:t>
            </a:r>
          </a:p>
          <a:p>
            <a:pPr lvl="0"/>
            <a:r>
              <a:rPr/>
              <a:t>Calcul mathématique de la distance d'édition entre deux chaînes</a:t>
            </a:r>
          </a:p>
          <a:p>
            <a:pPr lvl="0"/>
            <a:r>
              <a:rPr/>
              <a:t>Normalisation Unicode NFD pour ignorer les accents et les majuscules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 Ingénierie &amp; Qualité</a:t>
            </a:r>
          </a:p>
          <a:p>
            <a:pPr lvl="0" indent="0" marL="0">
              <a:buNone/>
            </a:pPr>
            <a:r>
              <a:rPr b="1"/>
              <a:t>validation logicielle :</a:t>
            </a:r>
            <a:r>
              <a:rPr/>
              <a:t> Focus</a:t>
            </a:r>
            <a:br/>
            <a:r>
              <a:rPr b="1"/>
              <a:t>Cible d'excellence :</a:t>
            </a:r>
            <a:r>
              <a:rPr/>
              <a:t> Couverture de code optimale</a:t>
            </a:r>
            <a:br/>
            <a:r>
              <a:rPr b="1"/>
              <a:t>Automatisation :</a:t>
            </a:r>
            <a:r>
              <a:rPr/>
              <a:t> Intégration Continue (CI)</a:t>
            </a:r>
          </a:p>
          <a:p>
            <a:pPr lvl="0" indent="0" marL="0">
              <a:buNone/>
            </a:pPr>
            <a:r>
              <a:rPr/>
              <a:t>Soutenance TP CDA — Nathalie Leduc — Projet Cinés Délices</a:t>
            </a:r>
          </a:p>
          <a:p>
            <a:pPr lvl="0" indent="0" marL="0">
              <a:buNone/>
            </a:pPr>
            <a:r>
              <a:rPr/>
              <a:t>28 / 40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Partie V : Qualité, Automatisation et Déploiement</a:t>
            </a:r>
          </a:p>
          <a:p>
            <a:pPr lvl="0" indent="0" marL="0">
              <a:buNone/>
            </a:pPr>
            <a:r>
              <a:rPr/>
              <a:t>Section 5 : Fiabilité, Performance et Cycle de mise en production</a:t>
            </a:r>
            <a:br/>
            <a:r>
              <a:rPr/>
              <a:t>  Passage en revue des compétences métiers associées </a:t>
            </a:r>
          </a:p>
          <a:p>
            <a:pPr lvl="0" indent="0" marL="0">
              <a:buNone/>
            </a:pPr>
            <a:r>
              <a:rPr/>
              <a:t>Soutenance TP CDA — Nathalie Leduc — Projet Cinés Délices</a:t>
            </a:r>
          </a:p>
          <a:p>
            <a:pPr lvl="0" indent="0" marL="0">
              <a:buNone/>
            </a:pPr>
            <a:r>
              <a:rPr/>
              <a:t>29 / 40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Stratégie de Test et Fiabilité du Code (CP9)</a:t>
            </a:r>
          </a:p>
          <a:p>
            <a:pPr lvl="0"/>
            <a:r>
              <a:rPr/>
              <a:t>Tests Unitaires (Vitest) : Validation des fonctions pures et utilitaires (parsing)</a:t>
            </a:r>
          </a:p>
          <a:p>
            <a:pPr lvl="0"/>
            <a:r>
              <a:rPr/>
              <a:t>Tests d'Intégration API : Vérification des routes, des statuts HTTP et des tokens JWT</a:t>
            </a:r>
          </a:p>
          <a:p>
            <a:pPr lvl="0"/>
            <a:r>
              <a:rPr/>
              <a:t>Tests Fonctionnels (Manuels) : Cahier de recette de T01 à T10 simulant un utilisateur réel</a:t>
            </a:r>
          </a:p>
          <a:p>
            <a:pPr lvl="0"/>
            <a:r>
              <a:rPr/>
              <a:t>Objectif : Non-régression logicielle lors de l'ajout de futures fonctionnalités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 Ingénierie &amp; Qualité</a:t>
            </a:r>
          </a:p>
          <a:p>
            <a:pPr lvl="0" indent="0" marL="0">
              <a:buNone/>
            </a:pPr>
            <a:r>
              <a:rPr b="1"/>
              <a:t>validation logicielle :</a:t>
            </a:r>
            <a:r>
              <a:rPr/>
              <a:t> Qualite</a:t>
            </a:r>
            <a:br/>
            <a:r>
              <a:rPr b="1"/>
              <a:t>Cible d'excellence :</a:t>
            </a:r>
            <a:r>
              <a:rPr/>
              <a:t> Couverture de code optimale</a:t>
            </a:r>
            <a:br/>
            <a:r>
              <a:rPr b="1"/>
              <a:t>Automatisation :</a:t>
            </a:r>
            <a:r>
              <a:rPr/>
              <a:t> Intégration Continue (CI)</a:t>
            </a:r>
          </a:p>
          <a:p>
            <a:pPr lvl="0" indent="0" marL="0">
              <a:buNone/>
            </a:pPr>
            <a:r>
              <a:rPr/>
              <a:t>Soutenance TP CDA — Nathalie Leduc — Projet Cinés Délices</a:t>
            </a:r>
          </a:p>
          <a:p>
            <a:pPr lvl="0" indent="0" marL="0">
              <a:buNone/>
            </a:pPr>
            <a:r>
              <a:rPr/>
              <a:t>30 / 40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Automatisation CI/CD : GitHub Actions Workflow (CP11)</a:t>
            </a:r>
          </a:p>
          <a:p>
            <a:pPr lvl="0"/>
            <a:r>
              <a:rPr/>
              <a:t>Déclenchement automatique du workflow à chaque Pull Request sur la branche principale</a:t>
            </a:r>
          </a:p>
          <a:p>
            <a:pPr lvl="0"/>
            <a:r>
              <a:rPr/>
              <a:t>Étape 1 : Analyse statique du code (Linting ESLint) pour traquer les mauvaises pratiques</a:t>
            </a:r>
          </a:p>
          <a:p>
            <a:pPr lvl="0"/>
            <a:r>
              <a:rPr/>
              <a:t>Étape 2 : Exécution automatisée de la suite complète de tests unitaires et d'intégration</a:t>
            </a:r>
          </a:p>
          <a:p>
            <a:pPr lvl="0"/>
            <a:r>
              <a:rPr/>
              <a:t>Étape 3 : Build de production pour valider la compilation de la SPA React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 Ingénierie &amp; Qualité</a:t>
            </a:r>
          </a:p>
          <a:p>
            <a:pPr lvl="0" indent="0" marL="0">
              <a:buNone/>
            </a:pPr>
            <a:r>
              <a:rPr b="1"/>
              <a:t>validation logicielle :</a:t>
            </a:r>
            <a:r>
              <a:rPr/>
              <a:t> Qualite</a:t>
            </a:r>
            <a:br/>
            <a:r>
              <a:rPr b="1"/>
              <a:t>Cible d'excellence :</a:t>
            </a:r>
            <a:r>
              <a:rPr/>
              <a:t> Couverture de code optimale</a:t>
            </a:r>
            <a:br/>
            <a:r>
              <a:rPr b="1"/>
              <a:t>Automatisation :</a:t>
            </a:r>
            <a:r>
              <a:rPr/>
              <a:t> Intégration Continue (CI)</a:t>
            </a:r>
          </a:p>
          <a:p>
            <a:pPr lvl="0" indent="0" marL="0">
              <a:buNone/>
            </a:pPr>
            <a:r>
              <a:rPr/>
              <a:t>Soutenance TP CDA — Nathalie Leduc — Projet Cinés Délices</a:t>
            </a:r>
          </a:p>
          <a:p>
            <a:pPr lvl="0" indent="0" marL="0">
              <a:buNone/>
            </a:pPr>
            <a:r>
              <a:rPr/>
              <a:t>31 / 40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Déploiement Continu &amp; Gestion des Environnements (CP11)</a:t>
            </a:r>
          </a:p>
          <a:p>
            <a:pPr lvl="0"/>
            <a:r>
              <a:rPr/>
              <a:t>Hébergement cloud sur la plateforme de PaaS Railway</a:t>
            </a:r>
          </a:p>
          <a:p>
            <a:pPr lvl="0"/>
            <a:r>
              <a:rPr/>
              <a:t>Déploiement automatique déclenché uniquement après validation de la CI</a:t>
            </a:r>
          </a:p>
          <a:p>
            <a:pPr lvl="0"/>
            <a:r>
              <a:rPr/>
              <a:t>Séparation stricte des variables d'environnement via des fichiers secrets .env</a:t>
            </a:r>
          </a:p>
          <a:p>
            <a:pPr lvl="0"/>
            <a:r>
              <a:rPr/>
              <a:t>Zéro interruption de service lors des mises à jour (Zero-Downtime Deployment)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 Ingénierie &amp; Qualité</a:t>
            </a:r>
          </a:p>
          <a:p>
            <a:pPr lvl="0" indent="0" marL="0">
              <a:buNone/>
            </a:pPr>
            <a:r>
              <a:rPr b="1"/>
              <a:t>validation logicielle :</a:t>
            </a:r>
            <a:r>
              <a:rPr/>
              <a:t> Qualite</a:t>
            </a:r>
            <a:br/>
            <a:r>
              <a:rPr b="1"/>
              <a:t>Cible d'excellence :</a:t>
            </a:r>
            <a:r>
              <a:rPr/>
              <a:t> Couverture de code optimale</a:t>
            </a:r>
            <a:br/>
            <a:r>
              <a:rPr b="1"/>
              <a:t>Automatisation :</a:t>
            </a:r>
            <a:r>
              <a:rPr/>
              <a:t> Intégration Continue (CI)</a:t>
            </a:r>
          </a:p>
          <a:p>
            <a:pPr lvl="0" indent="0" marL="0">
              <a:buNone/>
            </a:pPr>
            <a:r>
              <a:rPr/>
              <a:t>Soutenance TP CDA — Nathalie Leduc — Projet Cinés Délices</a:t>
            </a:r>
          </a:p>
          <a:p>
            <a:pPr lvl="0" indent="0" marL="0">
              <a:buNone/>
            </a:pPr>
            <a:r>
              <a:rPr/>
              <a:t>32 / 40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Mesures de Performance &amp; Optimisations Lighthouse</a:t>
            </a:r>
          </a:p>
          <a:p>
            <a:pPr lvl="0"/>
            <a:r>
              <a:rPr/>
              <a:t>Audits automatisés Google Lighthouse réguliers</a:t>
            </a:r>
          </a:p>
          <a:p>
            <a:pPr lvl="0"/>
            <a:r>
              <a:rPr/>
              <a:t>Scores supérieurs à 90 sur les critères Performance, Accessibilité et SEO</a:t>
            </a:r>
          </a:p>
          <a:p>
            <a:pPr lvl="0"/>
            <a:r>
              <a:rPr/>
              <a:t>Pagination côté serveur (12 recettes par page) pour limiter le volume de transfert</a:t>
            </a:r>
          </a:p>
          <a:p>
            <a:pPr lvl="0"/>
            <a:r>
              <a:rPr/>
              <a:t>Minification automatique des fichiers JavaScript et CSS lors du build de production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 Ingénierie &amp; Qualité</a:t>
            </a:r>
          </a:p>
          <a:p>
            <a:pPr lvl="0" indent="0" marL="0">
              <a:buNone/>
            </a:pPr>
            <a:r>
              <a:rPr b="1"/>
              <a:t>validation logicielle :</a:t>
            </a:r>
            <a:r>
              <a:rPr/>
              <a:t> Qualite</a:t>
            </a:r>
            <a:br/>
            <a:r>
              <a:rPr b="1"/>
              <a:t>Cible d'excellence :</a:t>
            </a:r>
            <a:r>
              <a:rPr/>
              <a:t> Couverture de code optimale</a:t>
            </a:r>
            <a:br/>
            <a:r>
              <a:rPr b="1"/>
              <a:t>Automatisation :</a:t>
            </a:r>
            <a:r>
              <a:rPr/>
              <a:t> Intégration Continue (CI)</a:t>
            </a:r>
          </a:p>
          <a:p>
            <a:pPr lvl="0" indent="0" marL="0">
              <a:buNone/>
            </a:pPr>
            <a:r>
              <a:rPr/>
              <a:t>Soutenance TP CDA — Nathalie Leduc — Projet Cinés Délices</a:t>
            </a:r>
          </a:p>
          <a:p>
            <a:pPr lvl="0" indent="0" marL="0">
              <a:buNone/>
            </a:pPr>
            <a:r>
              <a:rPr/>
              <a:t>33 / 40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Accessibilité Numérique : Conformité WCAG / RGAA</a:t>
            </a:r>
          </a:p>
          <a:p>
            <a:pPr lvl="0"/>
            <a:r>
              <a:rPr/>
              <a:t>Respect des standards WCAG 2.1 au niveau d'exigence AA</a:t>
            </a:r>
          </a:p>
          <a:p>
            <a:pPr lvl="0"/>
            <a:r>
              <a:rPr/>
              <a:t>Utilisation d'une sémantique HTML5 stricte (main, nav, article, section)</a:t>
            </a:r>
          </a:p>
          <a:p>
            <a:pPr lvl="0"/>
            <a:r>
              <a:rPr/>
              <a:t>Présence obligatoire des attributs 'alt' explicites sur l'intégralité des images</a:t>
            </a:r>
          </a:p>
          <a:p>
            <a:pPr lvl="0"/>
            <a:r>
              <a:rPr/>
              <a:t>Contraste des couleurs vérifié mathématiquement pour les utilisateurs malvoyants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 Ingénierie &amp; Qualité</a:t>
            </a:r>
          </a:p>
          <a:p>
            <a:pPr lvl="0" indent="0" marL="0">
              <a:buNone/>
            </a:pPr>
            <a:r>
              <a:rPr b="1"/>
              <a:t>validation logicielle :</a:t>
            </a:r>
            <a:r>
              <a:rPr/>
              <a:t> Qualite</a:t>
            </a:r>
            <a:br/>
            <a:r>
              <a:rPr b="1"/>
              <a:t>Cible d'excellence :</a:t>
            </a:r>
            <a:r>
              <a:rPr/>
              <a:t> Couverture de code optimale</a:t>
            </a:r>
            <a:br/>
            <a:r>
              <a:rPr b="1"/>
              <a:t>Automatisation :</a:t>
            </a:r>
            <a:r>
              <a:rPr/>
              <a:t> Intégration Continue (CI)</a:t>
            </a:r>
          </a:p>
          <a:p>
            <a:pPr lvl="0" indent="0" marL="0">
              <a:buNone/>
            </a:pPr>
            <a:r>
              <a:rPr/>
              <a:t>Soutenance TP CDA — Nathalie Leduc — Projet Cinés Délices</a:t>
            </a:r>
          </a:p>
          <a:p>
            <a:pPr lvl="0" indent="0" marL="0">
              <a:buNone/>
            </a:pPr>
            <a:r>
              <a:rPr/>
              <a:t>34 / 40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Partie VI : Conclusion, Veille et Perspectives</a:t>
            </a:r>
          </a:p>
          <a:p>
            <a:pPr lvl="0" indent="0" marL="0">
              <a:buNone/>
            </a:pPr>
            <a:r>
              <a:rPr/>
              <a:t>Section 6 : Bilan personnel et perspectives d'avenir</a:t>
            </a:r>
            <a:br/>
            <a:r>
              <a:rPr/>
              <a:t>  Passage en revue des compétences métiers associées </a:t>
            </a:r>
          </a:p>
          <a:p>
            <a:pPr lvl="0" indent="0" marL="0">
              <a:buNone/>
            </a:pPr>
            <a:r>
              <a:rPr/>
              <a:t>Soutenance TP CDA — Nathalie Leduc — Projet Cinés Délices</a:t>
            </a:r>
          </a:p>
          <a:p>
            <a:pPr lvl="0" indent="0" marL="0">
              <a:buNone/>
            </a:pPr>
            <a:r>
              <a:rPr/>
              <a:t>35 / 40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Veille Réglementaire &amp; Technologique Active (CP4)</a:t>
            </a:r>
          </a:p>
          <a:p>
            <a:pPr lvl="0"/>
            <a:r>
              <a:rPr/>
              <a:t>Abonnement aux flux de sécurité de l'ANSSI, du CERT-FR et aux alertes OWASP</a:t>
            </a:r>
          </a:p>
          <a:p>
            <a:pPr lvl="0"/>
            <a:r>
              <a:rPr/>
              <a:t>Utilisation d'outils automatisés comme Dependabot pour surveiller nos dépendances</a:t>
            </a:r>
          </a:p>
          <a:p>
            <a:pPr lvl="0"/>
            <a:r>
              <a:rPr/>
              <a:t>Veille active sur les nouveautés de l'écosystème : React 19 et Prisma 7</a:t>
            </a:r>
          </a:p>
          <a:p>
            <a:pPr lvl="0"/>
            <a:r>
              <a:rPr/>
              <a:t>Cas concret de veille : Migration de Zod pour contrer une vulnérabilité ReDoS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 Ingénierie &amp; Qualité</a:t>
            </a:r>
          </a:p>
          <a:p>
            <a:pPr lvl="0" indent="0" marL="0">
              <a:buNone/>
            </a:pPr>
            <a:r>
              <a:rPr b="1"/>
              <a:t>validation logicielle :</a:t>
            </a:r>
            <a:r>
              <a:rPr/>
              <a:t> Conclusion</a:t>
            </a:r>
            <a:br/>
            <a:r>
              <a:rPr b="1"/>
              <a:t>Cible d'excellence :</a:t>
            </a:r>
            <a:r>
              <a:rPr/>
              <a:t> Couverture de code optimale</a:t>
            </a:r>
            <a:br/>
            <a:r>
              <a:rPr b="1"/>
              <a:t>Automatisation :</a:t>
            </a:r>
            <a:r>
              <a:rPr/>
              <a:t> Intégration Continue (CI)</a:t>
            </a:r>
          </a:p>
          <a:p>
            <a:pPr lvl="0" indent="0" marL="0">
              <a:buNone/>
            </a:pPr>
            <a:r>
              <a:rPr/>
              <a:t>Soutenance TP CDA — Nathalie Leduc — Projet Cinés Délices</a:t>
            </a:r>
          </a:p>
          <a:p>
            <a:pPr lvl="0" indent="0" marL="0">
              <a:buNone/>
            </a:pPr>
            <a:r>
              <a:rPr/>
              <a:t>36 / 40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Résolution de Problème Infra : Le Cas d'OpenSSL sur Railway</a:t>
            </a:r>
          </a:p>
          <a:p>
            <a:pPr lvl="0"/>
            <a:r>
              <a:rPr/>
              <a:t>Incident critique : Crash de l'API lors du premier déploiement sur Railway</a:t>
            </a:r>
          </a:p>
          <a:p>
            <a:pPr lvl="0"/>
            <a:r>
              <a:rPr/>
              <a:t>Diagnostic : Absence de la bibliothèque système OpenSSL dans l'image de base</a:t>
            </a:r>
          </a:p>
          <a:p>
            <a:pPr lvl="0"/>
            <a:r>
              <a:rPr/>
              <a:t>Action : Analyse des logs système et réécriture complète d'un Dockerfile personnalisé</a:t>
            </a:r>
          </a:p>
          <a:p>
            <a:pPr lvl="0"/>
            <a:r>
              <a:rPr/>
              <a:t>Résultat : Résolution de l'incompatibilité de Prisma et stabilisation de la production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 Ingénierie &amp; Qualité</a:t>
            </a:r>
          </a:p>
          <a:p>
            <a:pPr lvl="0" indent="0" marL="0">
              <a:buNone/>
            </a:pPr>
            <a:r>
              <a:rPr b="1"/>
              <a:t>validation logicielle :</a:t>
            </a:r>
            <a:r>
              <a:rPr/>
              <a:t> Conclusion</a:t>
            </a:r>
            <a:br/>
            <a:r>
              <a:rPr b="1"/>
              <a:t>Cible d'excellence :</a:t>
            </a:r>
            <a:r>
              <a:rPr/>
              <a:t> Couverture de code optimale</a:t>
            </a:r>
            <a:br/>
            <a:r>
              <a:rPr b="1"/>
              <a:t>Automatisation :</a:t>
            </a:r>
            <a:r>
              <a:rPr/>
              <a:t> Intégration Continue (CI)</a:t>
            </a:r>
          </a:p>
          <a:p>
            <a:pPr lvl="0" indent="0" marL="0">
              <a:buNone/>
            </a:pPr>
            <a:r>
              <a:rPr/>
              <a:t>Soutenance TP CDA — Nathalie Leduc — Projet Cinés Délices</a:t>
            </a:r>
          </a:p>
          <a:p>
            <a:pPr lvl="0" indent="0" marL="0">
              <a:buNone/>
            </a:pPr>
            <a:r>
              <a:rPr/>
              <a:t>37 / 40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Bilan des Compétences Validées (Référentiel REAC)</a:t>
            </a:r>
          </a:p>
          <a:p>
            <a:pPr lvl="0"/>
            <a:r>
              <a:rPr/>
              <a:t>Maîtrise complète du cycle de vie logiciel, de la conception au déploiement</a:t>
            </a:r>
          </a:p>
          <a:p>
            <a:pPr lvl="0"/>
            <a:r>
              <a:rPr/>
              <a:t>11 compétences du référentiel d'évaluation CDA couvertes et illustrées</a:t>
            </a:r>
          </a:p>
          <a:p>
            <a:pPr lvl="0"/>
            <a:r>
              <a:rPr/>
              <a:t>Postures professionnelles : Esprit d'équipe, rigueur technique et adaptabilité</a:t>
            </a:r>
          </a:p>
          <a:p>
            <a:pPr lvl="0"/>
            <a:r>
              <a:rPr/>
              <a:t>Prête pour le grand saut : Transition vers le développement freelance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 Ingénierie &amp; Qualité</a:t>
            </a:r>
          </a:p>
          <a:p>
            <a:pPr lvl="0" indent="0" marL="0">
              <a:buNone/>
            </a:pPr>
            <a:r>
              <a:rPr b="1"/>
              <a:t>validation logicielle :</a:t>
            </a:r>
            <a:r>
              <a:rPr/>
              <a:t> Conclusion</a:t>
            </a:r>
            <a:br/>
            <a:r>
              <a:rPr b="1"/>
              <a:t>Cible d'excellence :</a:t>
            </a:r>
            <a:r>
              <a:rPr/>
              <a:t> Couverture de code optimale</a:t>
            </a:r>
            <a:br/>
            <a:r>
              <a:rPr b="1"/>
              <a:t>Automatisation :</a:t>
            </a:r>
            <a:r>
              <a:rPr/>
              <a:t> Intégration Continue (CI)</a:t>
            </a:r>
          </a:p>
          <a:p>
            <a:pPr lvl="0" indent="0" marL="0">
              <a:buNone/>
            </a:pPr>
            <a:r>
              <a:rPr/>
              <a:t>Soutenance TP CDA — Nathalie Leduc — Projet Cinés Délices</a:t>
            </a:r>
          </a:p>
          <a:p>
            <a:pPr lvl="0" indent="0" marL="0">
              <a:buNone/>
            </a:pPr>
            <a:r>
              <a:rPr/>
              <a:t>38 / 40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Feuille de Route &amp; Perspectives d'Évolution (v2)</a:t>
            </a:r>
          </a:p>
          <a:p>
            <a:pPr lvl="0"/>
            <a:r>
              <a:rPr/>
              <a:t>Implémentation de WebSockets pour des notifications d'administration en temps réel</a:t>
            </a:r>
          </a:p>
          <a:p>
            <a:pPr lvl="0"/>
            <a:r>
              <a:rPr/>
              <a:t>Transformation de la Single Page Application en une Progressive Web App (PWA)</a:t>
            </a:r>
          </a:p>
          <a:p>
            <a:pPr lvl="0"/>
            <a:r>
              <a:rPr/>
              <a:t>Mise en place d'un système de recommandation intelligent basé sur l'API TMDB</a:t>
            </a:r>
          </a:p>
          <a:p>
            <a:pPr lvl="0"/>
            <a:r>
              <a:rPr/>
              <a:t>Ouverture internationale de la plateforme grâce à l'internationalisation (i18n)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 Ingénierie &amp; Qualité</a:t>
            </a:r>
          </a:p>
          <a:p>
            <a:pPr lvl="0" indent="0" marL="0">
              <a:buNone/>
            </a:pPr>
            <a:r>
              <a:rPr b="1"/>
              <a:t>validation logicielle :</a:t>
            </a:r>
            <a:r>
              <a:rPr/>
              <a:t> Conclusion</a:t>
            </a:r>
            <a:br/>
            <a:r>
              <a:rPr b="1"/>
              <a:t>Cible d'excellence :</a:t>
            </a:r>
            <a:r>
              <a:rPr/>
              <a:t> Couverture de code optimale</a:t>
            </a:r>
            <a:br/>
            <a:r>
              <a:rPr b="1"/>
              <a:t>Automatisation :</a:t>
            </a:r>
            <a:r>
              <a:rPr/>
              <a:t> Intégration Continue (CI)</a:t>
            </a:r>
          </a:p>
          <a:p>
            <a:pPr lvl="0" indent="0" marL="0">
              <a:buNone/>
            </a:pPr>
            <a:r>
              <a:rPr/>
              <a:t>Soutenance TP CDA — Nathalie Leduc — Projet Cinés Délices</a:t>
            </a:r>
          </a:p>
          <a:p>
            <a:pPr lvl="0" indent="0" marL="0">
              <a:buNone/>
            </a:pPr>
            <a:r>
              <a:rPr/>
              <a:t>39 / 40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Merci pour votre attention !</a:t>
            </a:r>
          </a:p>
          <a:p>
            <a:pPr lvl="0"/>
            <a:r>
              <a:rPr/>
              <a:t>Session de Questions / Réponses</a:t>
            </a:r>
          </a:p>
          <a:p>
            <a:pPr lvl="0"/>
            <a:r>
              <a:rPr/>
              <a:t>Lien du projet déployé : graceful-quietude-production.up.railway.app</a:t>
            </a:r>
          </a:p>
          <a:p>
            <a:pPr lvl="0"/>
            <a:r>
              <a:rPr/>
              <a:t>Dépôts de code et documentation technique complets accessibles sur GitHub</a:t>
            </a:r>
          </a:p>
          <a:p>
            <a:pPr lvl="0"/>
            <a:r>
              <a:rPr/>
              <a:t>Nathalie Leduc — Concepteuse Développeuse d'Applications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 Ingénierie &amp; Qualité</a:t>
            </a:r>
          </a:p>
          <a:p>
            <a:pPr lvl="0" indent="0" marL="0">
              <a:buNone/>
            </a:pPr>
            <a:r>
              <a:rPr b="1"/>
              <a:t>validation logicielle :</a:t>
            </a:r>
            <a:r>
              <a:rPr/>
              <a:t> Fin</a:t>
            </a:r>
            <a:br/>
            <a:r>
              <a:rPr b="1"/>
              <a:t>Cible d'excellence :</a:t>
            </a:r>
            <a:r>
              <a:rPr/>
              <a:t> Couverture de code optimale</a:t>
            </a:r>
            <a:br/>
            <a:r>
              <a:rPr b="1"/>
              <a:t>Automatisation :</a:t>
            </a:r>
            <a:r>
              <a:rPr/>
              <a:t> Intégration Continue (CI)</a:t>
            </a:r>
          </a:p>
          <a:p>
            <a:pPr lvl="0" indent="0" marL="0">
              <a:buNone/>
            </a:pPr>
            <a:r>
              <a:rPr/>
              <a:t>Soutenance TP CDA — Nathalie Leduc — Projet Cinés Délices</a:t>
            </a:r>
          </a:p>
          <a:p>
            <a:pPr lvl="0" indent="0" marL="0">
              <a:buNone/>
            </a:pPr>
            <a:r>
              <a:rPr/>
              <a:t>40 / 40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Support de Présentation Complet (40 Diapositives) - Cinés Délices</dc:title>
  <dc:creator/>
  <cp:keywords/>
  <dcterms:created xsi:type="dcterms:W3CDTF">2026-05-20T09:54:13Z</dcterms:created>
  <dcterms:modified xsi:type="dcterms:W3CDTF">2026-05-20T09:54:13Z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iewport">
    <vt:lpwstr>width=device-width, initial-scale=1.0</vt:lpwstr>
  </property>
</Properties>
</file>